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njan Kumar" userId="b3a292ca2bb0cc91" providerId="LiveId" clId="{C1239DF9-0B0E-4828-84E5-5A78EB3A9EDF}"/>
    <pc:docChg chg="modMainMaster">
      <pc:chgData name="Gunjan Kumar" userId="b3a292ca2bb0cc91" providerId="LiveId" clId="{C1239DF9-0B0E-4828-84E5-5A78EB3A9EDF}" dt="2026-01-31T15:21:00.836" v="7" actId="20577"/>
      <pc:docMkLst>
        <pc:docMk/>
      </pc:docMkLst>
      <pc:sldMasterChg chg="modSldLayout">
        <pc:chgData name="Gunjan Kumar" userId="b3a292ca2bb0cc91" providerId="LiveId" clId="{C1239DF9-0B0E-4828-84E5-5A78EB3A9EDF}" dt="2026-01-31T15:21:00.836" v="7" actId="20577"/>
        <pc:sldMasterMkLst>
          <pc:docMk/>
          <pc:sldMasterMk cId="1193447360" sldId="2147483648"/>
        </pc:sldMasterMkLst>
        <pc:sldLayoutChg chg="modSp mod">
          <pc:chgData name="Gunjan Kumar" userId="b3a292ca2bb0cc91" providerId="LiveId" clId="{C1239DF9-0B0E-4828-84E5-5A78EB3A9EDF}" dt="2026-01-31T15:21:00.836" v="7" actId="20577"/>
          <pc:sldLayoutMkLst>
            <pc:docMk/>
            <pc:sldMasterMk cId="1193447360" sldId="2147483648"/>
            <pc:sldLayoutMk cId="3523578680" sldId="2147483650"/>
          </pc:sldLayoutMkLst>
          <pc:spChg chg="mod">
            <ac:chgData name="Gunjan Kumar" userId="b3a292ca2bb0cc91" providerId="LiveId" clId="{C1239DF9-0B0E-4828-84E5-5A78EB3A9EDF}" dt="2026-01-31T15:21:00.836" v="7" actId="20577"/>
            <ac:spMkLst>
              <pc:docMk/>
              <pc:sldMasterMk cId="1193447360" sldId="2147483648"/>
              <pc:sldLayoutMk cId="3523578680" sldId="2147483650"/>
              <ac:spMk id="29" creationId="{C20CD126-9053-9FCD-F763-7AFC19B158EE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EDCB94A-5582-79D0-1413-A9B14A01BC52}"/>
              </a:ext>
            </a:extLst>
          </p:cNvPr>
          <p:cNvSpPr/>
          <p:nvPr userDrawn="1"/>
        </p:nvSpPr>
        <p:spPr>
          <a:xfrm>
            <a:off x="0" y="0"/>
            <a:ext cx="967299" cy="6858000"/>
          </a:xfrm>
          <a:prstGeom prst="rect">
            <a:avLst/>
          </a:prstGeom>
          <a:solidFill>
            <a:srgbClr val="00338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0000FF"/>
              </a:highlight>
            </a:endParaRPr>
          </a:p>
        </p:txBody>
      </p:sp>
      <p:pic>
        <p:nvPicPr>
          <p:cNvPr id="8" name="Picture 7" descr="A purple and pink background&#10;&#10;AI-generated content may be incorrect.">
            <a:extLst>
              <a:ext uri="{FF2B5EF4-FFF2-40B4-BE49-F238E27FC236}">
                <a16:creationId xmlns:a16="http://schemas.microsoft.com/office/drawing/2014/main" id="{0BD3362D-7613-421D-545A-FEA39A24C1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7298" y="0"/>
            <a:ext cx="11224701" cy="6858000"/>
          </a:xfrm>
          <a:prstGeom prst="rect">
            <a:avLst/>
          </a:prstGeom>
        </p:spPr>
      </p:pic>
      <p:pic>
        <p:nvPicPr>
          <p:cNvPr id="9" name="Picture 8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0D82AD7B-057F-28E4-F971-0B146DFC781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29237" y="509436"/>
            <a:ext cx="1911873" cy="7267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C451796-B7D5-1F59-059D-D821503EB7C5}"/>
              </a:ext>
            </a:extLst>
          </p:cNvPr>
          <p:cNvSpPr txBox="1"/>
          <p:nvPr userDrawn="1"/>
        </p:nvSpPr>
        <p:spPr>
          <a:xfrm>
            <a:off x="1649392" y="5371579"/>
            <a:ext cx="60998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</a:rPr>
              <a:t>Investment Brief</a:t>
            </a:r>
          </a:p>
          <a:p>
            <a:r>
              <a:rPr lang="en-US" i="1" dirty="0">
                <a:solidFill>
                  <a:schemeClr val="bg1"/>
                </a:solidFill>
              </a:rPr>
              <a:t>kelpglobal.com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183A41-3525-6ED9-6B2F-EEBB782646CA}"/>
              </a:ext>
            </a:extLst>
          </p:cNvPr>
          <p:cNvSpPr txBox="1"/>
          <p:nvPr userDrawn="1"/>
        </p:nvSpPr>
        <p:spPr>
          <a:xfrm>
            <a:off x="1649392" y="1393129"/>
            <a:ext cx="61461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chemeClr val="bg1"/>
                </a:solidFill>
              </a:rPr>
              <a:t>Project Apex</a:t>
            </a:r>
            <a:endParaRPr lang="en-US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5160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9D7C4F9-90B0-9576-6D64-F9AED22BCB33}"/>
              </a:ext>
            </a:extLst>
          </p:cNvPr>
          <p:cNvSpPr/>
          <p:nvPr userDrawn="1"/>
        </p:nvSpPr>
        <p:spPr>
          <a:xfrm>
            <a:off x="0" y="0"/>
            <a:ext cx="12192000" cy="556953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000" b="1" dirty="0">
                <a:solidFill>
                  <a:srgbClr val="FFFFFF"/>
                </a:solidFill>
                <a:latin typeface="Arial"/>
              </a:rPr>
              <a:t>Business Overview</a:t>
            </a:r>
            <a:endParaRPr sz="2000" b="1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" name="Picture 7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AC575A7F-A36B-7456-2E10-F4D800D486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8583" y="68736"/>
            <a:ext cx="1000673" cy="38035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D0222F0-9E4B-1BCF-314D-B8296F992CE2}"/>
              </a:ext>
            </a:extLst>
          </p:cNvPr>
          <p:cNvSpPr/>
          <p:nvPr userDrawn="1"/>
        </p:nvSpPr>
        <p:spPr>
          <a:xfrm>
            <a:off x="342091" y="782231"/>
            <a:ext cx="5907691" cy="27401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</a:rPr>
              <a:t>Business Overview: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750E9B-4FC9-1C34-8AF5-28245B1DB3BA}"/>
              </a:ext>
            </a:extLst>
          </p:cNvPr>
          <p:cNvSpPr/>
          <p:nvPr userDrawn="1"/>
        </p:nvSpPr>
        <p:spPr>
          <a:xfrm>
            <a:off x="6583366" y="795658"/>
            <a:ext cx="2301800" cy="25399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</a:rPr>
              <a:t>Key Select Customers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C48033-70F3-07A4-7AD7-6DAD67AFB4DE}"/>
              </a:ext>
            </a:extLst>
          </p:cNvPr>
          <p:cNvSpPr/>
          <p:nvPr userDrawn="1"/>
        </p:nvSpPr>
        <p:spPr>
          <a:xfrm>
            <a:off x="9379790" y="795354"/>
            <a:ext cx="2197872" cy="27432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</a:rPr>
              <a:t>Gamma at a glance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1DA40F-7364-8B83-F2ED-FF6B215D553F}"/>
              </a:ext>
            </a:extLst>
          </p:cNvPr>
          <p:cNvSpPr/>
          <p:nvPr userDrawn="1"/>
        </p:nvSpPr>
        <p:spPr>
          <a:xfrm>
            <a:off x="446191" y="3866232"/>
            <a:ext cx="8424000" cy="27432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</a:rPr>
              <a:t>Growth led through its growing product portfolio and offering solutions to diverse sectors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D66166-852B-C809-FA1C-7AA2B476F9A1}"/>
              </a:ext>
            </a:extLst>
          </p:cNvPr>
          <p:cNvSpPr/>
          <p:nvPr userDrawn="1"/>
        </p:nvSpPr>
        <p:spPr>
          <a:xfrm>
            <a:off x="9379790" y="3987419"/>
            <a:ext cx="2197872" cy="27432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</a:rPr>
              <a:t>Certifications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64CC7B-D15D-3589-B71A-415E133F43E3}"/>
              </a:ext>
            </a:extLst>
          </p:cNvPr>
          <p:cNvSpPr/>
          <p:nvPr userDrawn="1"/>
        </p:nvSpPr>
        <p:spPr>
          <a:xfrm>
            <a:off x="4901782" y="4283422"/>
            <a:ext cx="216000" cy="201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54610" tIns="54610" rIns="54610" bIns="5461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Applications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9503F0-6AEE-700E-E95C-E63DE5479232}"/>
              </a:ext>
            </a:extLst>
          </p:cNvPr>
          <p:cNvSpPr/>
          <p:nvPr userDrawn="1"/>
        </p:nvSpPr>
        <p:spPr>
          <a:xfrm>
            <a:off x="427422" y="4283422"/>
            <a:ext cx="216000" cy="201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54610" tIns="54610" rIns="54610" bIns="5461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Product Portfolio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631323-5C1B-04CB-ECAB-C19BE6A4769B}"/>
              </a:ext>
            </a:extLst>
          </p:cNvPr>
          <p:cNvSpPr txBox="1"/>
          <p:nvPr userDrawn="1"/>
        </p:nvSpPr>
        <p:spPr>
          <a:xfrm>
            <a:off x="4237398" y="6530097"/>
            <a:ext cx="61287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0" dirty="0">
                <a:solidFill>
                  <a:srgbClr val="333333"/>
                </a:solidFill>
                <a:latin typeface="Arial"/>
              </a:rPr>
              <a:t>Strictly Private &amp; Confidential – Prepared by Kelp M&amp;A Team</a:t>
            </a:r>
            <a:endParaRPr lang="en-US" sz="10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B235B0-2D42-9230-3E98-C9D83164F36B}"/>
              </a:ext>
            </a:extLst>
          </p:cNvPr>
          <p:cNvSpPr/>
          <p:nvPr userDrawn="1"/>
        </p:nvSpPr>
        <p:spPr>
          <a:xfrm>
            <a:off x="362526" y="1261925"/>
            <a:ext cx="5907691" cy="2438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numCol="1"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1B7A2EA-7697-3CED-896E-82AC5F9C9A39}"/>
              </a:ext>
            </a:extLst>
          </p:cNvPr>
          <p:cNvCxnSpPr>
            <a:cxnSpLocks/>
          </p:cNvCxnSpPr>
          <p:nvPr userDrawn="1"/>
        </p:nvCxnSpPr>
        <p:spPr>
          <a:xfrm>
            <a:off x="9114408" y="921323"/>
            <a:ext cx="0" cy="5428648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214D449C-2FFD-9F85-3D4D-F7E8E2570E41}"/>
              </a:ext>
            </a:extLst>
          </p:cNvPr>
          <p:cNvSpPr/>
          <p:nvPr userDrawn="1"/>
        </p:nvSpPr>
        <p:spPr>
          <a:xfrm>
            <a:off x="9341290" y="1086262"/>
            <a:ext cx="2324848" cy="2780390"/>
          </a:xfrm>
          <a:prstGeom prst="rect">
            <a:avLst/>
          </a:prstGeom>
          <a:solidFill>
            <a:schemeClr val="bg1">
              <a:lumMod val="95000"/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3FCC970B-83B3-0287-6448-78303B54F4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313" y="1262063"/>
            <a:ext cx="5908675" cy="2457450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{{</a:t>
            </a:r>
            <a:r>
              <a:rPr lang="en-US" dirty="0" err="1"/>
              <a:t>Business_Overview</a:t>
            </a:r>
            <a:r>
              <a:rPr lang="en-US" dirty="0"/>
              <a:t>}}</a:t>
            </a:r>
            <a:endParaRPr lang="en-IN" dirty="0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C20CD126-9053-9FCD-F763-7AFC19B158E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26766" y="1288360"/>
            <a:ext cx="1859161" cy="578503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IN" dirty="0"/>
          </a:p>
        </p:txBody>
      </p: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id="{47111DA4-2D21-6B67-EEDF-DDB0B0B0892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26766" y="1986333"/>
            <a:ext cx="1859161" cy="647918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1" name="Picture Placeholder 28">
            <a:extLst>
              <a:ext uri="{FF2B5EF4-FFF2-40B4-BE49-F238E27FC236}">
                <a16:creationId xmlns:a16="http://schemas.microsoft.com/office/drawing/2014/main" id="{43F31368-6346-8F88-7BE1-A98E7DF9B89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26766" y="2749272"/>
            <a:ext cx="1859162" cy="651879"/>
          </a:xfrm>
        </p:spPr>
        <p:txBody>
          <a:bodyPr/>
          <a:lstStyle/>
          <a:p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999EF4-5F67-9A86-9622-6BBD98E2F581}"/>
              </a:ext>
            </a:extLst>
          </p:cNvPr>
          <p:cNvSpPr txBox="1"/>
          <p:nvPr userDrawn="1"/>
        </p:nvSpPr>
        <p:spPr>
          <a:xfrm>
            <a:off x="7771359" y="3401151"/>
            <a:ext cx="138856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for KPMG"/>
                <a:ea typeface="+mn-ea"/>
                <a:cs typeface="Times New Roman"/>
              </a:rPr>
              <a:t>…and others</a:t>
            </a:r>
            <a:endParaRPr kumimoji="0" lang="en-US" sz="12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Content Placeholder 37">
            <a:extLst>
              <a:ext uri="{FF2B5EF4-FFF2-40B4-BE49-F238E27FC236}">
                <a16:creationId xmlns:a16="http://schemas.microsoft.com/office/drawing/2014/main" id="{A87FD201-154A-6384-57E9-3C7D73F66E9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41867" y="4305996"/>
            <a:ext cx="3994150" cy="2016125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{{</a:t>
            </a:r>
            <a:r>
              <a:rPr lang="en-US" dirty="0" err="1"/>
              <a:t>Project_Portfolio</a:t>
            </a:r>
            <a:r>
              <a:rPr lang="en-US" dirty="0"/>
              <a:t>}}</a:t>
            </a:r>
          </a:p>
        </p:txBody>
      </p:sp>
      <p:sp>
        <p:nvSpPr>
          <p:cNvPr id="40" name="Content Placeholder 37">
            <a:extLst>
              <a:ext uri="{FF2B5EF4-FFF2-40B4-BE49-F238E27FC236}">
                <a16:creationId xmlns:a16="http://schemas.microsoft.com/office/drawing/2014/main" id="{61C25B3B-5F9D-DB8A-96A2-5777524681E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189991" y="4305997"/>
            <a:ext cx="3804384" cy="1993426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{{Applications}}</a:t>
            </a:r>
          </a:p>
        </p:txBody>
      </p:sp>
      <p:sp>
        <p:nvSpPr>
          <p:cNvPr id="42" name="Content Placeholder 41">
            <a:extLst>
              <a:ext uri="{FF2B5EF4-FFF2-40B4-BE49-F238E27FC236}">
                <a16:creationId xmlns:a16="http://schemas.microsoft.com/office/drawing/2014/main" id="{F6A46AB0-F7D1-899E-E75F-CB33EA620856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259887" y="4305300"/>
            <a:ext cx="2698711" cy="1993900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{{Certifications}}</a:t>
            </a:r>
          </a:p>
        </p:txBody>
      </p:sp>
    </p:spTree>
    <p:extLst>
      <p:ext uri="{BB962C8B-B14F-4D97-AF65-F5344CB8AC3E}">
        <p14:creationId xmlns:p14="http://schemas.microsoft.com/office/powerpoint/2010/main" val="3523578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ial 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8365B70-C8F7-97BA-2DC7-C4E1D74303A1}"/>
              </a:ext>
            </a:extLst>
          </p:cNvPr>
          <p:cNvSpPr/>
          <p:nvPr userDrawn="1"/>
        </p:nvSpPr>
        <p:spPr>
          <a:xfrm>
            <a:off x="0" y="5800"/>
            <a:ext cx="12192000" cy="556953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000" b="1" dirty="0">
                <a:solidFill>
                  <a:srgbClr val="FFFFFF"/>
                </a:solidFill>
                <a:latin typeface="Arial"/>
              </a:rPr>
              <a:t>Key Financial Metrics and Growth Story</a:t>
            </a:r>
            <a:endParaRPr sz="2000" b="1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" name="Picture 7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DCE002B5-1D5D-A9F5-D6B9-E15737EEBE9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918417" y="78606"/>
            <a:ext cx="1000673" cy="380358"/>
          </a:xfrm>
          <a:prstGeom prst="rect">
            <a:avLst/>
          </a:prstGeom>
        </p:spPr>
      </p:pic>
      <p:sp>
        <p:nvSpPr>
          <p:cNvPr id="9" name="TextBox 153">
            <a:extLst>
              <a:ext uri="{FF2B5EF4-FFF2-40B4-BE49-F238E27FC236}">
                <a16:creationId xmlns:a16="http://schemas.microsoft.com/office/drawing/2014/main" id="{D368A2DB-EB93-A491-8A14-CB2FA9D475A2}"/>
              </a:ext>
            </a:extLst>
          </p:cNvPr>
          <p:cNvSpPr txBox="1"/>
          <p:nvPr userDrawn="1"/>
        </p:nvSpPr>
        <p:spPr>
          <a:xfrm>
            <a:off x="373317" y="913714"/>
            <a:ext cx="5616000" cy="2517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Key Financial Metrics (FY24)</a:t>
            </a:r>
          </a:p>
        </p:txBody>
      </p:sp>
      <p:sp>
        <p:nvSpPr>
          <p:cNvPr id="10" name="TextBox 153">
            <a:extLst>
              <a:ext uri="{FF2B5EF4-FFF2-40B4-BE49-F238E27FC236}">
                <a16:creationId xmlns:a16="http://schemas.microsoft.com/office/drawing/2014/main" id="{13662691-01FF-C507-B2C4-EE3B0D8FF200}"/>
              </a:ext>
            </a:extLst>
          </p:cNvPr>
          <p:cNvSpPr txBox="1"/>
          <p:nvPr userDrawn="1"/>
        </p:nvSpPr>
        <p:spPr>
          <a:xfrm>
            <a:off x="6566721" y="3797017"/>
            <a:ext cx="5352369" cy="2517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Global Presence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124954-B37B-E339-4731-7C7A3EF41D75}"/>
              </a:ext>
            </a:extLst>
          </p:cNvPr>
          <p:cNvSpPr txBox="1"/>
          <p:nvPr userDrawn="1"/>
        </p:nvSpPr>
        <p:spPr>
          <a:xfrm>
            <a:off x="4132468" y="6528518"/>
            <a:ext cx="61287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0" dirty="0">
                <a:solidFill>
                  <a:srgbClr val="333333"/>
                </a:solidFill>
                <a:latin typeface="Arial"/>
              </a:rPr>
              <a:t>Strictly Private &amp; Confidential – Prepared by Kelp M&amp;A Team</a:t>
            </a:r>
            <a:endParaRPr lang="en-US" sz="1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66DE5B-7403-3E2F-2EA5-F4BFBE94B670}"/>
              </a:ext>
            </a:extLst>
          </p:cNvPr>
          <p:cNvSpPr/>
          <p:nvPr userDrawn="1"/>
        </p:nvSpPr>
        <p:spPr>
          <a:xfrm>
            <a:off x="9661697" y="927959"/>
            <a:ext cx="2166960" cy="260721"/>
          </a:xfrm>
          <a:prstGeom prst="rect">
            <a:avLst/>
          </a:prstGeom>
          <a:noFill/>
          <a:ln>
            <a:solidFill>
              <a:schemeClr val="accent2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6D2077"/>
                </a:solidFill>
                <a:effectLst/>
                <a:uLnTx/>
                <a:uFillTx/>
                <a:latin typeface="+mj-lt"/>
                <a:ea typeface="+mn-ea"/>
                <a:cs typeface="Calibri" panose="020F0502020204030204" pitchFamily="34" charset="0"/>
              </a:rPr>
              <a:t>Upcoming Facility</a:t>
            </a:r>
          </a:p>
        </p:txBody>
      </p:sp>
      <p:sp>
        <p:nvSpPr>
          <p:cNvPr id="14" name="TextBox 51">
            <a:extLst>
              <a:ext uri="{FF2B5EF4-FFF2-40B4-BE49-F238E27FC236}">
                <a16:creationId xmlns:a16="http://schemas.microsoft.com/office/drawing/2014/main" id="{9E867588-BC1D-BFA5-D3E8-2EFC1DF10FC4}"/>
              </a:ext>
            </a:extLst>
          </p:cNvPr>
          <p:cNvSpPr txBox="1"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4742386" y="1329616"/>
            <a:ext cx="1260000" cy="4272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54000" tIns="54000" rIns="54000" bIns="54000" anchor="ctr"/>
          <a:lstStyle>
            <a:lvl1pPr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1pPr>
            <a:lvl2pPr marL="742950" indent="-285750"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2pPr>
            <a:lvl3pPr marL="1143000" indent="-228600"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3pPr>
            <a:lvl4pPr marL="1600200" indent="-228600"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4pPr>
            <a:lvl5pPr marL="2057400" indent="-228600"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for KPMG" panose="020B0603020202020204"/>
                <a:ea typeface="+mn-ea"/>
                <a:cs typeface="Arial" panose="020B0604020202020204" pitchFamily="34" charset="0"/>
              </a:rPr>
              <a:t>{{DEBT}}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for KPMG" panose="020B0603020202020204"/>
                <a:ea typeface="+mn-ea"/>
                <a:cs typeface="Arial" panose="020B0604020202020204" pitchFamily="34" charset="0"/>
              </a:rPr>
              <a:t>(last 3 </a:t>
            </a:r>
            <a:r>
              <a:rPr kumimoji="0" lang="en-US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years</a:t>
            </a:r>
            <a:r>
              <a:rPr kumimoji="0" lang="en-US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for KPMG" panose="020B0603020202020204"/>
                <a:ea typeface="+mn-ea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5" name="TextBox 51">
            <a:extLst>
              <a:ext uri="{FF2B5EF4-FFF2-40B4-BE49-F238E27FC236}">
                <a16:creationId xmlns:a16="http://schemas.microsoft.com/office/drawing/2014/main" id="{85F2463A-D74F-3B91-20C0-A5748C193C85}"/>
              </a:ext>
            </a:extLst>
          </p:cNvPr>
          <p:cNvSpPr txBox="1"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3296687" y="1329616"/>
            <a:ext cx="1260000" cy="42721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000" tIns="54000" rIns="54000" bIns="54000" anchor="ctr"/>
          <a:lstStyle>
            <a:lvl1pPr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1pPr>
            <a:lvl2pPr marL="742950" indent="-285750"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2pPr>
            <a:lvl3pPr marL="1143000" indent="-228600"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3pPr>
            <a:lvl4pPr marL="1600200" indent="-228600"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4pPr>
            <a:lvl5pPr marL="2057400" indent="-228600"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{{ROE}}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900" b="1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RoE</a:t>
            </a:r>
            <a:endParaRPr kumimoji="0" lang="en-US" altLang="en-US" sz="9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TextBox 51">
            <a:extLst>
              <a:ext uri="{FF2B5EF4-FFF2-40B4-BE49-F238E27FC236}">
                <a16:creationId xmlns:a16="http://schemas.microsoft.com/office/drawing/2014/main" id="{8662326F-4AAE-72EA-67BC-FB26556FDA86}"/>
              </a:ext>
            </a:extLst>
          </p:cNvPr>
          <p:cNvSpPr txBox="1"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1835002" y="1320727"/>
            <a:ext cx="1260000" cy="42721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lIns="54000" tIns="54000" rIns="54000" bIns="54000" anchor="ctr"/>
          <a:lstStyle>
            <a:lvl1pPr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1pPr>
            <a:lvl2pPr marL="742950" indent="-285750"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2pPr>
            <a:lvl3pPr marL="1143000" indent="-228600"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3pPr>
            <a:lvl4pPr marL="1600200" indent="-228600"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4pPr>
            <a:lvl5pPr marL="2057400" indent="-228600"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{{ROCE}}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RoCE</a:t>
            </a:r>
          </a:p>
        </p:txBody>
      </p:sp>
      <p:sp>
        <p:nvSpPr>
          <p:cNvPr id="18" name="TextBox 51">
            <a:extLst>
              <a:ext uri="{FF2B5EF4-FFF2-40B4-BE49-F238E27FC236}">
                <a16:creationId xmlns:a16="http://schemas.microsoft.com/office/drawing/2014/main" id="{C4D84755-05C8-6FE4-4C76-81742D922F1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73317" y="1331697"/>
            <a:ext cx="1260000" cy="419438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4000" tIns="54000" rIns="54000" bIns="54000" anchor="ctr"/>
          <a:lstStyle>
            <a:lvl1pPr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1pPr>
            <a:lvl2pPr marL="742950" indent="-285750"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2pPr>
            <a:lvl3pPr marL="1143000" indent="-228600"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3pPr>
            <a:lvl4pPr marL="1600200" indent="-228600"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4pPr>
            <a:lvl5pPr marL="2057400" indent="-228600"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Univers 45 Light" pitchFamily="2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for KPMG" panose="020B0603020202020204"/>
                <a:ea typeface="+mn-ea"/>
                <a:cs typeface="Arial" panose="020B0604020202020204" pitchFamily="34" charset="0"/>
              </a:rPr>
              <a:t>{{EBITDA}}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Univers for KPMG" panose="020B0603020202020204"/>
                <a:ea typeface="+mn-ea"/>
                <a:cs typeface="Arial" panose="020B0604020202020204" pitchFamily="34" charset="0"/>
              </a:rPr>
              <a:t>EBITDA Margin</a:t>
            </a:r>
          </a:p>
        </p:txBody>
      </p:sp>
      <p:sp>
        <p:nvSpPr>
          <p:cNvPr id="21" name="Chart Placeholder 20">
            <a:extLst>
              <a:ext uri="{FF2B5EF4-FFF2-40B4-BE49-F238E27FC236}">
                <a16:creationId xmlns:a16="http://schemas.microsoft.com/office/drawing/2014/main" id="{136CA5BE-B645-1085-0F25-3A61EEC2F4D4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373063" y="1955800"/>
            <a:ext cx="5616575" cy="3378200"/>
          </a:xfrm>
        </p:spPr>
        <p:txBody>
          <a:bodyPr/>
          <a:lstStyle/>
          <a:p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CE1307-AC29-D723-F190-66DFAD7BEB67}"/>
              </a:ext>
            </a:extLst>
          </p:cNvPr>
          <p:cNvSpPr txBox="1"/>
          <p:nvPr userDrawn="1"/>
        </p:nvSpPr>
        <p:spPr>
          <a:xfrm>
            <a:off x="437636" y="5334445"/>
            <a:ext cx="58260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for KPMG"/>
                <a:ea typeface="+mn-ea"/>
                <a:cs typeface="Times New Roman"/>
              </a:rPr>
              <a:t>Assumptions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Univers for KPMG"/>
                <a:ea typeface="+mn-ea"/>
                <a:cs typeface="Times New Roman"/>
              </a:rPr>
              <a:t>: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BFDED71A-FAD1-6048-94A2-8A4D454EA9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8150" y="5543550"/>
            <a:ext cx="5826125" cy="976313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{{Assumptions}}</a:t>
            </a:r>
          </a:p>
        </p:txBody>
      </p:sp>
      <p:sp>
        <p:nvSpPr>
          <p:cNvPr id="29" name="Chart Placeholder 28">
            <a:extLst>
              <a:ext uri="{FF2B5EF4-FFF2-40B4-BE49-F238E27FC236}">
                <a16:creationId xmlns:a16="http://schemas.microsoft.com/office/drawing/2014/main" id="{E9D0B8FC-85C3-5B7C-0B40-CF54DA9EE2FB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6567488" y="4156075"/>
            <a:ext cx="2438400" cy="23637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{{Sales}}</a:t>
            </a:r>
            <a:endParaRPr lang="en-IN" dirty="0"/>
          </a:p>
        </p:txBody>
      </p:sp>
      <p:sp>
        <p:nvSpPr>
          <p:cNvPr id="31" name="Chart Placeholder 30">
            <a:extLst>
              <a:ext uri="{FF2B5EF4-FFF2-40B4-BE49-F238E27FC236}">
                <a16:creationId xmlns:a16="http://schemas.microsoft.com/office/drawing/2014/main" id="{A6841D32-5A83-E048-1E73-A75245E82B11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9155113" y="4156075"/>
            <a:ext cx="2859087" cy="237172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{{</a:t>
            </a:r>
            <a:r>
              <a:rPr lang="en-US" dirty="0" err="1"/>
              <a:t>Global_Presence</a:t>
            </a:r>
            <a:r>
              <a:rPr lang="en-US" dirty="0"/>
              <a:t>}}</a:t>
            </a:r>
            <a:endParaRPr lang="en-IN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B8F5627-D4D1-149F-6DBD-1D485DD57D7A}"/>
              </a:ext>
            </a:extLst>
          </p:cNvPr>
          <p:cNvSpPr/>
          <p:nvPr userDrawn="1"/>
        </p:nvSpPr>
        <p:spPr>
          <a:xfrm>
            <a:off x="9253008" y="1254476"/>
            <a:ext cx="2666082" cy="24457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lvl="0" indent="0" algn="just">
              <a:buFont typeface="Wingdings" panose="05000000000000000000" pitchFamily="2" charset="2"/>
              <a:buNone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EBEE2E38-5611-6FAB-79FD-B17153280F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53538" y="1254125"/>
            <a:ext cx="2665412" cy="2435225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{{</a:t>
            </a:r>
            <a:r>
              <a:rPr lang="en-US" dirty="0" err="1"/>
              <a:t>Upcoming_Facility</a:t>
            </a:r>
            <a:r>
              <a:rPr lang="en-US" dirty="0"/>
              <a:t>}}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55A558B3-CB64-06C5-ED4D-EFCB104BC3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57950" y="1039813"/>
            <a:ext cx="2638425" cy="2649537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{{</a:t>
            </a:r>
            <a:r>
              <a:rPr lang="en-US" dirty="0" err="1"/>
              <a:t>metrics_point</a:t>
            </a:r>
            <a:r>
              <a:rPr lang="en-US" dirty="0"/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3824591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vestment 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C7E0ACC-59B2-0452-484A-245074DD6B8B}"/>
              </a:ext>
            </a:extLst>
          </p:cNvPr>
          <p:cNvSpPr txBox="1"/>
          <p:nvPr userDrawn="1"/>
        </p:nvSpPr>
        <p:spPr>
          <a:xfrm>
            <a:off x="4132468" y="6528518"/>
            <a:ext cx="61287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b="0" dirty="0">
                <a:solidFill>
                  <a:srgbClr val="333333"/>
                </a:solidFill>
                <a:latin typeface="Arial"/>
              </a:rPr>
              <a:t>Strictly Private &amp; Confidential – Prepared by Kelp M&amp;A Team</a:t>
            </a:r>
            <a:endParaRPr lang="en-US" sz="1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4A80CD-1060-E40A-B237-A987611F9D37}"/>
              </a:ext>
            </a:extLst>
          </p:cNvPr>
          <p:cNvSpPr/>
          <p:nvPr userDrawn="1"/>
        </p:nvSpPr>
        <p:spPr>
          <a:xfrm>
            <a:off x="0" y="0"/>
            <a:ext cx="12192000" cy="556953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000" b="1" dirty="0">
                <a:solidFill>
                  <a:srgbClr val="FFFFFF"/>
                </a:solidFill>
                <a:latin typeface="Arial"/>
              </a:rPr>
              <a:t>Investment Highlights</a:t>
            </a:r>
            <a:endParaRPr sz="2000" b="1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" name="Picture 10" descr="A white letter on a black background&#10;&#10;AI-generated content may be incorrect.">
            <a:extLst>
              <a:ext uri="{FF2B5EF4-FFF2-40B4-BE49-F238E27FC236}">
                <a16:creationId xmlns:a16="http://schemas.microsoft.com/office/drawing/2014/main" id="{F135A80D-C10D-173F-BDC5-E922D2925D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08583" y="68736"/>
            <a:ext cx="1000673" cy="380358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7E37AEF-B21E-CD6B-733A-384BB2F5C0BB}"/>
              </a:ext>
            </a:extLst>
          </p:cNvPr>
          <p:cNvGrpSpPr/>
          <p:nvPr userDrawn="1"/>
        </p:nvGrpSpPr>
        <p:grpSpPr>
          <a:xfrm>
            <a:off x="241915" y="1680059"/>
            <a:ext cx="3200400" cy="3200400"/>
            <a:chOff x="4495800" y="1695105"/>
            <a:chExt cx="3200400" cy="320040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2B2063B-BA70-BB3F-75E1-7E8DD6BB922F}"/>
                </a:ext>
              </a:extLst>
            </p:cNvPr>
            <p:cNvSpPr/>
            <p:nvPr/>
          </p:nvSpPr>
          <p:spPr>
            <a:xfrm>
              <a:off x="4495800" y="1695105"/>
              <a:ext cx="3200400" cy="3200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4610" tIns="54610" rIns="54610" bIns="54610" rtlCol="0" anchor="ctr"/>
            <a:lstStyle/>
            <a:p>
              <a:pPr algn="l"/>
              <a:endParaRPr lang="en-US" sz="1500" dirty="0">
                <a:solidFill>
                  <a:schemeClr val="bg1"/>
                </a:solidFill>
              </a:endParaRPr>
            </a:p>
          </p:txBody>
        </p:sp>
        <p:pic>
          <p:nvPicPr>
            <p:cNvPr id="14" name="Picture 13" descr="Abstract background with network pattern">
              <a:extLst>
                <a:ext uri="{FF2B5EF4-FFF2-40B4-BE49-F238E27FC236}">
                  <a16:creationId xmlns:a16="http://schemas.microsoft.com/office/drawing/2014/main" id="{2E092B02-9D8F-5E94-5215-FAD146B84C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686" r="16686"/>
            <a:stretch/>
          </p:blipFill>
          <p:spPr>
            <a:xfrm>
              <a:off x="4597299" y="1812885"/>
              <a:ext cx="2997403" cy="2993868"/>
            </a:xfrm>
            <a:prstGeom prst="flowChartConnector">
              <a:avLst/>
            </a:prstGeom>
          </p:spPr>
        </p:pic>
      </p:grpSp>
      <p:cxnSp>
        <p:nvCxnSpPr>
          <p:cNvPr id="15" name="Connector: Elbow 73">
            <a:extLst>
              <a:ext uri="{FF2B5EF4-FFF2-40B4-BE49-F238E27FC236}">
                <a16:creationId xmlns:a16="http://schemas.microsoft.com/office/drawing/2014/main" id="{0EAE2CC0-08F5-F014-1489-833E8C48671A}"/>
              </a:ext>
            </a:extLst>
          </p:cNvPr>
          <p:cNvCxnSpPr/>
          <p:nvPr userDrawn="1"/>
        </p:nvCxnSpPr>
        <p:spPr>
          <a:xfrm flipV="1">
            <a:off x="3442315" y="1238028"/>
            <a:ext cx="607033" cy="2042231"/>
          </a:xfrm>
          <a:prstGeom prst="bentConnector3">
            <a:avLst/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08">
            <a:extLst>
              <a:ext uri="{FF2B5EF4-FFF2-40B4-BE49-F238E27FC236}">
                <a16:creationId xmlns:a16="http://schemas.microsoft.com/office/drawing/2014/main" id="{12834139-5D55-869D-0B34-7BA7C2E0522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42315" y="2206383"/>
            <a:ext cx="607033" cy="107387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51">
            <a:extLst>
              <a:ext uri="{FF2B5EF4-FFF2-40B4-BE49-F238E27FC236}">
                <a16:creationId xmlns:a16="http://schemas.microsoft.com/office/drawing/2014/main" id="{5EF5BCAC-A4C8-4F8E-6ADD-38FA9D84A3FA}"/>
              </a:ext>
            </a:extLst>
          </p:cNvPr>
          <p:cNvCxnSpPr>
            <a:cxnSpLocks/>
          </p:cNvCxnSpPr>
          <p:nvPr userDrawn="1"/>
        </p:nvCxnSpPr>
        <p:spPr>
          <a:xfrm flipV="1">
            <a:off x="3442314" y="3189978"/>
            <a:ext cx="607034" cy="9326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09">
            <a:extLst>
              <a:ext uri="{FF2B5EF4-FFF2-40B4-BE49-F238E27FC236}">
                <a16:creationId xmlns:a16="http://schemas.microsoft.com/office/drawing/2014/main" id="{FA9FBCB5-C833-8F6B-4C80-02CB647517E8}"/>
              </a:ext>
            </a:extLst>
          </p:cNvPr>
          <p:cNvCxnSpPr>
            <a:cxnSpLocks/>
          </p:cNvCxnSpPr>
          <p:nvPr userDrawn="1"/>
        </p:nvCxnSpPr>
        <p:spPr>
          <a:xfrm>
            <a:off x="3442315" y="3280259"/>
            <a:ext cx="607033" cy="1831187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48">
            <a:extLst>
              <a:ext uri="{FF2B5EF4-FFF2-40B4-BE49-F238E27FC236}">
                <a16:creationId xmlns:a16="http://schemas.microsoft.com/office/drawing/2014/main" id="{071B3CD7-268C-AA3E-FC32-38B3AB146983}"/>
              </a:ext>
            </a:extLst>
          </p:cNvPr>
          <p:cNvCxnSpPr>
            <a:cxnSpLocks/>
          </p:cNvCxnSpPr>
          <p:nvPr userDrawn="1"/>
        </p:nvCxnSpPr>
        <p:spPr>
          <a:xfrm>
            <a:off x="3442315" y="3280259"/>
            <a:ext cx="607033" cy="862833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198C49D-D05D-A229-C754-BFE8023C12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18000" y="1111250"/>
            <a:ext cx="7164388" cy="4189413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{{</a:t>
            </a:r>
            <a:r>
              <a:rPr lang="en-US" dirty="0" err="1"/>
              <a:t>Investment_Highlights</a:t>
            </a:r>
            <a:r>
              <a:rPr lang="en-US" dirty="0"/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2285018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76A0A9-6B86-6EE2-98CE-9AD729C27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2E49A-6BC0-FD9D-05E5-4F0D30BF8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D8352-C35D-7A2F-1E49-62D60887BC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71C71F-1B22-4304-80A2-B95549FAB365}" type="datetimeFigureOut">
              <a:rPr lang="en-IN" smtClean="0"/>
              <a:t>02-02-2026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5939B-7D59-896D-4093-0A6E1B5100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B5232-507C-B7ED-39EE-130DE3A73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CA8F7C-E2C2-47D3-ADBF-526785AAC0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447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6361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1ACA4E2-FBB7-558A-42EF-DBA23F635B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ABAC149-0F7A-6AB1-9538-AA6599CD5CE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3448A13A-062B-5B07-7F8E-0D33550A22A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697E47D2-1F04-0222-79F8-2DD1A0A7E7E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D7CB9F45-1DD8-FEA9-285E-24935DE8145E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9B351BBF-6EF9-DE4E-2B92-A6921D4204EB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FDDF9E7D-04F9-4D55-4A99-720CAD29B082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136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CCDDFE84-B7DA-8C9F-FF8A-F758EB74A4B7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9AEFB7E-297F-7E13-F70C-B836EAF76A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1E2AA1B3-F75B-0B1E-D823-AAD2F0F85F9D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Chart Placeholder 11">
            <a:extLst>
              <a:ext uri="{FF2B5EF4-FFF2-40B4-BE49-F238E27FC236}">
                <a16:creationId xmlns:a16="http://schemas.microsoft.com/office/drawing/2014/main" id="{008D5EE3-4E65-8C1F-2B58-49B114728CF9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16BF341-6FA6-A1BE-BA77-4BF130E8F6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69F6AFD-2357-B7C2-89EB-06CEBF362F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169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28FC606-5BB7-C51B-F248-087FE37AC3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402975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LINETEXTSHAPEGUID" val="5a983c82-54b9-4c60-8e24-207a0199119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LINETEXTSHAPEGUID" val="5a983c82-54b9-4c60-8e24-207a0199119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LINETEXTSHAPEGUID" val="5a983c82-54b9-4c60-8e24-207a0199119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Univers for KPMG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Gunjan Kumar</dc:creator>
  <cp:lastModifiedBy>Gunjan Kumar</cp:lastModifiedBy>
  <cp:revision>3</cp:revision>
  <dcterms:created xsi:type="dcterms:W3CDTF">2026-01-31T14:20:10Z</dcterms:created>
  <dcterms:modified xsi:type="dcterms:W3CDTF">2026-02-02T14:29:13Z</dcterms:modified>
</cp:coreProperties>
</file>